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61"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1594"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95347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89790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6951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5"/>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5"/>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333447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5"/>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437172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61087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BCAD085-E8A6-8845-BD4E-CB4CCA059FC4}" type="datetimeFigureOut">
              <a:rPr lang="en-US" smtClean="0"/>
              <a:t>11/10/2025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085213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731520"/>
            <a:ext cx="486918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5BCAD085-E8A6-8845-BD4E-CB4CCA059FC4}" type="datetimeFigureOut">
              <a:rPr lang="en-US" smtClean="0"/>
              <a:t>11/10/2025</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023777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74416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408786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162759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5BCAD085-E8A6-8845-BD4E-CB4CCA059FC4}" type="datetimeFigureOut">
              <a:rPr lang="en-US" smtClean="0"/>
              <a:t>11/10/2025</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C1FF6DA9-008F-8B48-92A6-B652298478BF}" type="slidenum">
              <a:rPr lang="en-US" smtClean="0"/>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1125135"/>
      </p:ext>
    </p:extLst>
  </p:cSld>
  <p:clrMap bg1="lt1" tx1="dk1" bg2="lt2" tx2="dk2" accent1="accent1" accent2="accent2" accent3="accent3" accent4="accent4" accent5="accent5" accent6="accent6" hlink="hlink" folHlink="folHlink"/>
  <p:sldLayoutIdLst>
    <p:sldLayoutId id="2147483862" r:id="rId1"/>
    <p:sldLayoutId id="2147483863" r:id="rId2"/>
    <p:sldLayoutId id="2147483864" r:id="rId3"/>
    <p:sldLayoutId id="2147483865" r:id="rId4"/>
    <p:sldLayoutId id="2147483866" r:id="rId5"/>
    <p:sldLayoutId id="2147483867" r:id="rId6"/>
    <p:sldLayoutId id="2147483868" r:id="rId7"/>
    <p:sldLayoutId id="2147483869" r:id="rId8"/>
    <p:sldLayoutId id="2147483870" r:id="rId9"/>
    <p:sldLayoutId id="2147483871" r:id="rId10"/>
    <p:sldLayoutId id="2147483872"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3600" b="1">
                <a:solidFill>
                  <a:srgbClr val="003366"/>
                </a:solidFill>
              </a:defRPr>
            </a:pPr>
            <a:r>
              <a:t>GYM MANAGEMENT SYSTEM</a:t>
            </a:r>
          </a:p>
        </p:txBody>
      </p:sp>
      <p:sp>
        <p:nvSpPr>
          <p:cNvPr id="3" name="Content Placeholder 2"/>
          <p:cNvSpPr>
            <a:spLocks noGrp="1"/>
          </p:cNvSpPr>
          <p:nvPr>
            <p:ph idx="1"/>
          </p:nvPr>
        </p:nvSpPr>
        <p:spPr/>
        <p:txBody>
          <a:bodyPr>
            <a:normAutofit/>
          </a:bodyPr>
          <a:lstStyle/>
          <a:p>
            <a:pPr>
              <a:lnSpc>
                <a:spcPct val="125000"/>
              </a:lnSpc>
              <a:defRPr sz="2000">
                <a:solidFill>
                  <a:srgbClr val="0A0A0A"/>
                </a:solidFill>
              </a:defRPr>
            </a:pPr>
            <a:r>
              <a:t>A Full Stack Web Application for Automating Gym Operations</a:t>
            </a:r>
          </a:p>
          <a:p>
            <a:pPr>
              <a:lnSpc>
                <a:spcPct val="125000"/>
              </a:lnSpc>
              <a:defRPr sz="2000">
                <a:solidFill>
                  <a:srgbClr val="0A0A0A"/>
                </a:solidFill>
              </a:defRPr>
            </a:pPr>
            <a:endParaRPr/>
          </a:p>
          <a:p>
            <a:pPr>
              <a:lnSpc>
                <a:spcPct val="125000"/>
              </a:lnSpc>
              <a:defRPr sz="2000">
                <a:solidFill>
                  <a:srgbClr val="0A0A0A"/>
                </a:solidFill>
              </a:defRPr>
            </a:pPr>
            <a:r>
              <a:t>Developed using HTML, CSS, JavaScript (Frontend), Node.js (Backend), and MongoDB (Database).</a:t>
            </a:r>
          </a:p>
          <a:p>
            <a:pPr>
              <a:lnSpc>
                <a:spcPct val="125000"/>
              </a:lnSpc>
              <a:defRPr sz="2000">
                <a:solidFill>
                  <a:srgbClr val="0A0A0A"/>
                </a:solidFill>
              </a:defRPr>
            </a:pPr>
            <a:endParaRPr/>
          </a:p>
          <a:p>
            <a:pPr>
              <a:lnSpc>
                <a:spcPct val="125000"/>
              </a:lnSpc>
              <a:defRPr sz="2000">
                <a:solidFill>
                  <a:srgbClr val="0A0A0A"/>
                </a:solidFill>
              </a:defRPr>
            </a:pPr>
            <a:r>
              <a:t>This project focuses on building a secure, efficient, and responsive system to manage gym activities like member registration, trainer details, attendance, and payment tracking.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3600" b="1">
                <a:solidFill>
                  <a:srgbClr val="003366"/>
                </a:solidFill>
              </a:defRPr>
            </a:pPr>
            <a:r>
              <a:t>Introduction</a:t>
            </a:r>
          </a:p>
        </p:txBody>
      </p:sp>
      <p:sp>
        <p:nvSpPr>
          <p:cNvPr id="3" name="Content Placeholder 2"/>
          <p:cNvSpPr>
            <a:spLocks noGrp="1"/>
          </p:cNvSpPr>
          <p:nvPr>
            <p:ph idx="1"/>
          </p:nvPr>
        </p:nvSpPr>
        <p:spPr/>
        <p:txBody>
          <a:bodyPr/>
          <a:lstStyle/>
          <a:p>
            <a:pPr>
              <a:lnSpc>
                <a:spcPct val="125000"/>
              </a:lnSpc>
              <a:defRPr sz="2000">
                <a:solidFill>
                  <a:srgbClr val="0A0A0A"/>
                </a:solidFill>
              </a:defRPr>
            </a:pPr>
            <a:r>
              <a:t>The Gym Management System is a comprehensive web-based platform designed to automate all major functions of a fitness center. Instead of relying on traditional registers or Excel sheets, the system allows seamless digital management of members, trainers, and financial transactions. The goal is to minimize manual errors, enhance efficiency, and provide real-time access to gym data.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3600" b="1">
                <a:solidFill>
                  <a:srgbClr val="003366"/>
                </a:solidFill>
              </a:defRPr>
            </a:pPr>
            <a:r>
              <a:t>Motivation and Need</a:t>
            </a:r>
          </a:p>
        </p:txBody>
      </p:sp>
      <p:sp>
        <p:nvSpPr>
          <p:cNvPr id="3" name="Content Placeholder 2"/>
          <p:cNvSpPr>
            <a:spLocks noGrp="1"/>
          </p:cNvSpPr>
          <p:nvPr>
            <p:ph idx="1"/>
          </p:nvPr>
        </p:nvSpPr>
        <p:spPr/>
        <p:txBody>
          <a:bodyPr/>
          <a:lstStyle/>
          <a:p>
            <a:pPr>
              <a:lnSpc>
                <a:spcPct val="125000"/>
              </a:lnSpc>
              <a:defRPr sz="2000">
                <a:solidFill>
                  <a:srgbClr val="0A0A0A"/>
                </a:solidFill>
              </a:defRPr>
            </a:pPr>
            <a:r>
              <a:t>Gyms face operational challenges due to manual data handling — such as data duplication, missing records, and limited coordination among staff. To overcome these challenges, a centralized, digital system is required. The proposed web application ensures smooth operation by offering automation, transparency, and scalability.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3600" b="1">
                <a:solidFill>
                  <a:srgbClr val="003366"/>
                </a:solidFill>
              </a:defRPr>
            </a:pPr>
            <a:r>
              <a:t>Problem Statement and Objectives</a:t>
            </a:r>
          </a:p>
        </p:txBody>
      </p:sp>
      <p:sp>
        <p:nvSpPr>
          <p:cNvPr id="3" name="Content Placeholder 2"/>
          <p:cNvSpPr>
            <a:spLocks noGrp="1"/>
          </p:cNvSpPr>
          <p:nvPr>
            <p:ph idx="1"/>
          </p:nvPr>
        </p:nvSpPr>
        <p:spPr/>
        <p:txBody>
          <a:bodyPr>
            <a:normAutofit fontScale="85000" lnSpcReduction="10000"/>
          </a:bodyPr>
          <a:lstStyle/>
          <a:p>
            <a:pPr>
              <a:lnSpc>
                <a:spcPct val="125000"/>
              </a:lnSpc>
              <a:defRPr sz="2000">
                <a:solidFill>
                  <a:srgbClr val="0A0A0A"/>
                </a:solidFill>
              </a:defRPr>
            </a:pPr>
            <a:r>
              <a:t>Problem Statement: Manual gym management processes are inefficient, time-consuming, and prone to errors.</a:t>
            </a:r>
          </a:p>
          <a:p>
            <a:pPr>
              <a:lnSpc>
                <a:spcPct val="125000"/>
              </a:lnSpc>
              <a:defRPr sz="2000">
                <a:solidFill>
                  <a:srgbClr val="0A0A0A"/>
                </a:solidFill>
              </a:defRPr>
            </a:pPr>
            <a:endParaRPr/>
          </a:p>
          <a:p>
            <a:pPr>
              <a:lnSpc>
                <a:spcPct val="125000"/>
              </a:lnSpc>
              <a:defRPr sz="2000">
                <a:solidFill>
                  <a:srgbClr val="0A0A0A"/>
                </a:solidFill>
              </a:defRPr>
            </a:pPr>
            <a:r>
              <a:t>Objectives:</a:t>
            </a:r>
          </a:p>
          <a:p>
            <a:pPr>
              <a:lnSpc>
                <a:spcPct val="125000"/>
              </a:lnSpc>
              <a:defRPr sz="2000">
                <a:solidFill>
                  <a:srgbClr val="0A0A0A"/>
                </a:solidFill>
              </a:defRPr>
            </a:pPr>
            <a:r>
              <a:t>• Develop a responsive and secure web-based gym management system.</a:t>
            </a:r>
          </a:p>
          <a:p>
            <a:pPr>
              <a:lnSpc>
                <a:spcPct val="125000"/>
              </a:lnSpc>
              <a:defRPr sz="2000">
                <a:solidFill>
                  <a:srgbClr val="0A0A0A"/>
                </a:solidFill>
              </a:defRPr>
            </a:pPr>
            <a:r>
              <a:t>• Automate core processes such as registration, attendance tracking, and payment management.</a:t>
            </a:r>
          </a:p>
          <a:p>
            <a:pPr>
              <a:lnSpc>
                <a:spcPct val="125000"/>
              </a:lnSpc>
              <a:defRPr sz="2000">
                <a:solidFill>
                  <a:srgbClr val="0A0A0A"/>
                </a:solidFill>
              </a:defRPr>
            </a:pPr>
            <a:r>
              <a:t>• Implement a centralized database using MongoDB for reliable data storage.</a:t>
            </a:r>
          </a:p>
          <a:p>
            <a:pPr>
              <a:lnSpc>
                <a:spcPct val="125000"/>
              </a:lnSpc>
              <a:defRPr sz="2000">
                <a:solidFill>
                  <a:srgbClr val="0A0A0A"/>
                </a:solidFill>
              </a:defRPr>
            </a:pPr>
            <a:r>
              <a:t>• Enable analytical reporting through dashboards for decision-making.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3600" b="1">
                <a:solidFill>
                  <a:srgbClr val="003366"/>
                </a:solidFill>
              </a:defRPr>
            </a:pPr>
            <a:r>
              <a:t>Scope of the Project</a:t>
            </a:r>
          </a:p>
        </p:txBody>
      </p:sp>
      <p:sp>
        <p:nvSpPr>
          <p:cNvPr id="3" name="Content Placeholder 2"/>
          <p:cNvSpPr>
            <a:spLocks noGrp="1"/>
          </p:cNvSpPr>
          <p:nvPr>
            <p:ph idx="1"/>
          </p:nvPr>
        </p:nvSpPr>
        <p:spPr/>
        <p:txBody>
          <a:bodyPr>
            <a:normAutofit/>
          </a:bodyPr>
          <a:lstStyle/>
          <a:p>
            <a:pPr>
              <a:lnSpc>
                <a:spcPct val="125000"/>
              </a:lnSpc>
              <a:defRPr sz="2000">
                <a:solidFill>
                  <a:srgbClr val="0A0A0A"/>
                </a:solidFill>
              </a:defRPr>
            </a:pPr>
            <a:r>
              <a:t>The system is designed to support administrators, trainers, and members through dedicated modules. It provides real-time management of gym activities including membership plans, attendance, and payments. The scope also covers web accessibility and scalability for multiple gym branches. Limitations include the absence of biometric or AI-based tracking, which can be integrated in future versions.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3600" b="1">
                <a:solidFill>
                  <a:srgbClr val="003366"/>
                </a:solidFill>
              </a:defRPr>
            </a:pPr>
            <a:r>
              <a:t>Literature Review</a:t>
            </a:r>
          </a:p>
        </p:txBody>
      </p:sp>
      <p:sp>
        <p:nvSpPr>
          <p:cNvPr id="3" name="Content Placeholder 2"/>
          <p:cNvSpPr>
            <a:spLocks noGrp="1"/>
          </p:cNvSpPr>
          <p:nvPr>
            <p:ph idx="1"/>
          </p:nvPr>
        </p:nvSpPr>
        <p:spPr/>
        <p:txBody>
          <a:bodyPr>
            <a:normAutofit/>
          </a:bodyPr>
          <a:lstStyle/>
          <a:p>
            <a:pPr>
              <a:lnSpc>
                <a:spcPct val="125000"/>
              </a:lnSpc>
              <a:defRPr sz="2000">
                <a:solidFill>
                  <a:srgbClr val="0A0A0A"/>
                </a:solidFill>
              </a:defRPr>
            </a:pPr>
            <a:r>
              <a:t>Traditional gym management relies heavily on paper-based or semi-digital tools like spreadsheets. Such systems lack automation, real-time updates, and centralized control. The adoption of modern web technologies (HTML, CSS, JS, Node.js, MongoDB) enables cloud-based management, dynamic updates, and secure access control. The Gym Management System integrates these technologies into one coherent solution.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sz="3600" b="1">
                <a:solidFill>
                  <a:srgbClr val="003366"/>
                </a:solidFill>
              </a:defRPr>
            </a:pPr>
            <a:r>
              <a:t>System Architecture (Insert Diagram Here)</a:t>
            </a:r>
          </a:p>
        </p:txBody>
      </p:sp>
      <p:sp>
        <p:nvSpPr>
          <p:cNvPr id="3" name="Content Placeholder 2"/>
          <p:cNvSpPr>
            <a:spLocks noGrp="1"/>
          </p:cNvSpPr>
          <p:nvPr>
            <p:ph idx="1"/>
          </p:nvPr>
        </p:nvSpPr>
        <p:spPr/>
        <p:txBody>
          <a:bodyPr>
            <a:normAutofit fontScale="85000" lnSpcReduction="10000"/>
          </a:bodyPr>
          <a:lstStyle/>
          <a:p>
            <a:pPr>
              <a:lnSpc>
                <a:spcPct val="125000"/>
              </a:lnSpc>
              <a:defRPr sz="2000">
                <a:solidFill>
                  <a:srgbClr val="0A0A0A"/>
                </a:solidFill>
              </a:defRPr>
            </a:pPr>
            <a:r>
              <a:t>The system follows a three-tier architecture for scalability and separation of concerns:</a:t>
            </a:r>
          </a:p>
          <a:p>
            <a:pPr>
              <a:lnSpc>
                <a:spcPct val="125000"/>
              </a:lnSpc>
              <a:defRPr sz="2000">
                <a:solidFill>
                  <a:srgbClr val="0A0A0A"/>
                </a:solidFill>
              </a:defRPr>
            </a:pPr>
            <a:endParaRPr/>
          </a:p>
          <a:p>
            <a:pPr>
              <a:lnSpc>
                <a:spcPct val="125000"/>
              </a:lnSpc>
              <a:defRPr sz="2000">
                <a:solidFill>
                  <a:srgbClr val="0A0A0A"/>
                </a:solidFill>
              </a:defRPr>
            </a:pPr>
            <a:r>
              <a:t>• Frontend (HTML, CSS, JavaScript): Handles user interface and interaction.</a:t>
            </a:r>
          </a:p>
          <a:p>
            <a:pPr>
              <a:lnSpc>
                <a:spcPct val="125000"/>
              </a:lnSpc>
              <a:defRPr sz="2000">
                <a:solidFill>
                  <a:srgbClr val="0A0A0A"/>
                </a:solidFill>
              </a:defRPr>
            </a:pPr>
            <a:r>
              <a:t>• Backend (Node.js + Express.js): Manages server logic, APIs, and data validation.</a:t>
            </a:r>
          </a:p>
          <a:p>
            <a:pPr>
              <a:lnSpc>
                <a:spcPct val="125000"/>
              </a:lnSpc>
              <a:defRPr sz="2000">
                <a:solidFill>
                  <a:srgbClr val="0A0A0A"/>
                </a:solidFill>
              </a:defRPr>
            </a:pPr>
            <a:r>
              <a:t>• Database (MongoDB): Stores information about members, trainers, and payments.</a:t>
            </a:r>
          </a:p>
          <a:p>
            <a:pPr>
              <a:lnSpc>
                <a:spcPct val="125000"/>
              </a:lnSpc>
              <a:defRPr sz="2000">
                <a:solidFill>
                  <a:srgbClr val="0A0A0A"/>
                </a:solidFill>
              </a:defRPr>
            </a:pPr>
            <a:endParaRPr/>
          </a:p>
          <a:p>
            <a:pPr>
              <a:lnSpc>
                <a:spcPct val="125000"/>
              </a:lnSpc>
              <a:defRPr sz="2000">
                <a:solidFill>
                  <a:srgbClr val="0A0A0A"/>
                </a:solidFill>
              </a:defRPr>
            </a:pPr>
            <a:r>
              <a:t>This modular design ensures flexibility, security, and ease of maintenance.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3600" b="1">
                <a:solidFill>
                  <a:srgbClr val="003366"/>
                </a:solidFill>
              </a:defRPr>
            </a:pPr>
            <a:r>
              <a:t>Technologies Used</a:t>
            </a:r>
          </a:p>
        </p:txBody>
      </p:sp>
      <p:sp>
        <p:nvSpPr>
          <p:cNvPr id="3" name="Content Placeholder 2"/>
          <p:cNvSpPr>
            <a:spLocks noGrp="1"/>
          </p:cNvSpPr>
          <p:nvPr>
            <p:ph idx="1"/>
          </p:nvPr>
        </p:nvSpPr>
        <p:spPr/>
        <p:txBody>
          <a:bodyPr>
            <a:normAutofit fontScale="92500" lnSpcReduction="10000"/>
          </a:bodyPr>
          <a:lstStyle/>
          <a:p>
            <a:pPr>
              <a:lnSpc>
                <a:spcPct val="125000"/>
              </a:lnSpc>
              <a:defRPr sz="2000">
                <a:solidFill>
                  <a:srgbClr val="0A0A0A"/>
                </a:solidFill>
              </a:defRPr>
            </a:pPr>
            <a:r>
              <a:t>Frontend: HTML, CSS, and JavaScript were used to design a responsive and interactive interface.</a:t>
            </a:r>
          </a:p>
          <a:p>
            <a:pPr>
              <a:lnSpc>
                <a:spcPct val="125000"/>
              </a:lnSpc>
              <a:defRPr sz="2000">
                <a:solidFill>
                  <a:srgbClr val="0A0A0A"/>
                </a:solidFill>
              </a:defRPr>
            </a:pPr>
            <a:r>
              <a:t>Backend: Node.js and Express.js handle business logic, routing, and API connections.</a:t>
            </a:r>
          </a:p>
          <a:p>
            <a:pPr>
              <a:lnSpc>
                <a:spcPct val="125000"/>
              </a:lnSpc>
              <a:defRPr sz="2000">
                <a:solidFill>
                  <a:srgbClr val="0A0A0A"/>
                </a:solidFill>
              </a:defRPr>
            </a:pPr>
            <a:r>
              <a:t>Database: MongoDB provides flexible document-based storage for handling dynamic gym data.</a:t>
            </a:r>
          </a:p>
          <a:p>
            <a:pPr>
              <a:lnSpc>
                <a:spcPct val="125000"/>
              </a:lnSpc>
              <a:defRPr sz="2000">
                <a:solidFill>
                  <a:srgbClr val="0A0A0A"/>
                </a:solidFill>
              </a:defRPr>
            </a:pPr>
            <a:r>
              <a:t>Other Tools: VS Code for development, GitHub for version control.</a:t>
            </a:r>
          </a:p>
          <a:p>
            <a:pPr>
              <a:lnSpc>
                <a:spcPct val="125000"/>
              </a:lnSpc>
              <a:defRPr sz="2000">
                <a:solidFill>
                  <a:srgbClr val="0A0A0A"/>
                </a:solidFill>
              </a:defRPr>
            </a:pPr>
            <a:endParaRPr/>
          </a:p>
          <a:p>
            <a:pPr>
              <a:lnSpc>
                <a:spcPct val="125000"/>
              </a:lnSpc>
              <a:defRPr sz="2000">
                <a:solidFill>
                  <a:srgbClr val="0A0A0A"/>
                </a:solidFill>
              </a:defRPr>
            </a:pPr>
            <a:r>
              <a:t>Together, these technologies provide speed, reliability, and scalability.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3600" b="1">
                <a:solidFill>
                  <a:srgbClr val="003366"/>
                </a:solidFill>
              </a:defRPr>
            </a:pPr>
            <a:r>
              <a:t>Development Methodology</a:t>
            </a:r>
          </a:p>
        </p:txBody>
      </p:sp>
      <p:sp>
        <p:nvSpPr>
          <p:cNvPr id="3" name="Content Placeholder 2"/>
          <p:cNvSpPr>
            <a:spLocks noGrp="1"/>
          </p:cNvSpPr>
          <p:nvPr>
            <p:ph idx="1"/>
          </p:nvPr>
        </p:nvSpPr>
        <p:spPr/>
        <p:txBody>
          <a:bodyPr>
            <a:normAutofit fontScale="70000" lnSpcReduction="20000"/>
          </a:bodyPr>
          <a:lstStyle/>
          <a:p>
            <a:pPr>
              <a:lnSpc>
                <a:spcPct val="125000"/>
              </a:lnSpc>
              <a:defRPr sz="2000">
                <a:solidFill>
                  <a:srgbClr val="0A0A0A"/>
                </a:solidFill>
              </a:defRPr>
            </a:pPr>
            <a:r>
              <a:t>The system was developed using the Agile methodology, which emphasizes iterative design and testing.</a:t>
            </a:r>
          </a:p>
          <a:p>
            <a:pPr>
              <a:lnSpc>
                <a:spcPct val="125000"/>
              </a:lnSpc>
              <a:defRPr sz="2000">
                <a:solidFill>
                  <a:srgbClr val="0A0A0A"/>
                </a:solidFill>
              </a:defRPr>
            </a:pPr>
            <a:endParaRPr/>
          </a:p>
          <a:p>
            <a:pPr>
              <a:lnSpc>
                <a:spcPct val="125000"/>
              </a:lnSpc>
              <a:defRPr sz="2000">
                <a:solidFill>
                  <a:srgbClr val="0A0A0A"/>
                </a:solidFill>
              </a:defRPr>
            </a:pPr>
            <a:r>
              <a:t>Phases of Development:</a:t>
            </a:r>
          </a:p>
          <a:p>
            <a:pPr>
              <a:lnSpc>
                <a:spcPct val="125000"/>
              </a:lnSpc>
              <a:defRPr sz="2000">
                <a:solidFill>
                  <a:srgbClr val="0A0A0A"/>
                </a:solidFill>
              </a:defRPr>
            </a:pPr>
            <a:r>
              <a:t>1. Requirement Analysis – Identifying gym workflow and data needs.</a:t>
            </a:r>
          </a:p>
          <a:p>
            <a:pPr>
              <a:lnSpc>
                <a:spcPct val="125000"/>
              </a:lnSpc>
              <a:defRPr sz="2000">
                <a:solidFill>
                  <a:srgbClr val="0A0A0A"/>
                </a:solidFill>
              </a:defRPr>
            </a:pPr>
            <a:r>
              <a:t>2. System Design – Creating architecture and database models.</a:t>
            </a:r>
          </a:p>
          <a:p>
            <a:pPr>
              <a:lnSpc>
                <a:spcPct val="125000"/>
              </a:lnSpc>
              <a:defRPr sz="2000">
                <a:solidFill>
                  <a:srgbClr val="0A0A0A"/>
                </a:solidFill>
              </a:defRPr>
            </a:pPr>
            <a:r>
              <a:t>3. Implementation – Coding frontend, backend, and database modules.</a:t>
            </a:r>
          </a:p>
          <a:p>
            <a:pPr>
              <a:lnSpc>
                <a:spcPct val="125000"/>
              </a:lnSpc>
              <a:defRPr sz="2000">
                <a:solidFill>
                  <a:srgbClr val="0A0A0A"/>
                </a:solidFill>
              </a:defRPr>
            </a:pPr>
            <a:r>
              <a:t>4. Testing – Validating features and debugging errors.</a:t>
            </a:r>
          </a:p>
          <a:p>
            <a:pPr>
              <a:lnSpc>
                <a:spcPct val="125000"/>
              </a:lnSpc>
              <a:defRPr sz="2000">
                <a:solidFill>
                  <a:srgbClr val="0A0A0A"/>
                </a:solidFill>
              </a:defRPr>
            </a:pPr>
            <a:r>
              <a:t>5. Integration – Ensuring smooth interaction between all components.</a:t>
            </a:r>
          </a:p>
          <a:p>
            <a:pPr>
              <a:lnSpc>
                <a:spcPct val="125000"/>
              </a:lnSpc>
              <a:defRPr sz="2000">
                <a:solidFill>
                  <a:srgbClr val="0A0A0A"/>
                </a:solidFill>
              </a:defRPr>
            </a:pPr>
            <a:r>
              <a:t>6. Deployment – Preparing the system for online use.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sz="3600" b="1">
                <a:solidFill>
                  <a:srgbClr val="003366"/>
                </a:solidFill>
              </a:defRPr>
            </a:pPr>
            <a:r>
              <a:t>Data Flow Diagram (Insert Diagram Here)</a:t>
            </a:r>
          </a:p>
        </p:txBody>
      </p:sp>
      <p:sp>
        <p:nvSpPr>
          <p:cNvPr id="3" name="Content Placeholder 2"/>
          <p:cNvSpPr>
            <a:spLocks noGrp="1"/>
          </p:cNvSpPr>
          <p:nvPr>
            <p:ph idx="1"/>
          </p:nvPr>
        </p:nvSpPr>
        <p:spPr/>
        <p:txBody>
          <a:bodyPr>
            <a:normAutofit fontScale="92500"/>
          </a:bodyPr>
          <a:lstStyle/>
          <a:p>
            <a:pPr>
              <a:lnSpc>
                <a:spcPct val="125000"/>
              </a:lnSpc>
              <a:defRPr sz="2000">
                <a:solidFill>
                  <a:srgbClr val="0A0A0A"/>
                </a:solidFill>
              </a:defRPr>
            </a:pPr>
            <a:r>
              <a:t>The data flow ensures smooth communication between users, backend, and database.</a:t>
            </a:r>
          </a:p>
          <a:p>
            <a:pPr>
              <a:lnSpc>
                <a:spcPct val="125000"/>
              </a:lnSpc>
              <a:defRPr sz="2000">
                <a:solidFill>
                  <a:srgbClr val="0A0A0A"/>
                </a:solidFill>
              </a:defRPr>
            </a:pPr>
            <a:endParaRPr/>
          </a:p>
          <a:p>
            <a:pPr>
              <a:lnSpc>
                <a:spcPct val="125000"/>
              </a:lnSpc>
              <a:defRPr sz="2000">
                <a:solidFill>
                  <a:srgbClr val="0A0A0A"/>
                </a:solidFill>
              </a:defRPr>
            </a:pPr>
            <a:r>
              <a:t>1. Users submit input via the frontend (e.g., registration or payment forms).</a:t>
            </a:r>
          </a:p>
          <a:p>
            <a:pPr>
              <a:lnSpc>
                <a:spcPct val="125000"/>
              </a:lnSpc>
              <a:defRPr sz="2000">
                <a:solidFill>
                  <a:srgbClr val="0A0A0A"/>
                </a:solidFill>
              </a:defRPr>
            </a:pPr>
            <a:r>
              <a:t>2. Backend processes input, validates it, and sends it to MongoDB.</a:t>
            </a:r>
          </a:p>
          <a:p>
            <a:pPr>
              <a:lnSpc>
                <a:spcPct val="125000"/>
              </a:lnSpc>
              <a:defRPr sz="2000">
                <a:solidFill>
                  <a:srgbClr val="0A0A0A"/>
                </a:solidFill>
              </a:defRPr>
            </a:pPr>
            <a:r>
              <a:t>3. Data is stored, updated, or retrieved as needed.</a:t>
            </a:r>
          </a:p>
          <a:p>
            <a:pPr>
              <a:lnSpc>
                <a:spcPct val="125000"/>
              </a:lnSpc>
              <a:defRPr sz="2000">
                <a:solidFill>
                  <a:srgbClr val="0A0A0A"/>
                </a:solidFill>
              </a:defRPr>
            </a:pPr>
            <a:r>
              <a:t>4. The processed data is shown on the dashboard in real-time for analysis.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3600" b="1">
                <a:solidFill>
                  <a:srgbClr val="003366"/>
                </a:solidFill>
              </a:defRPr>
            </a:pPr>
            <a:r>
              <a:t>System Modules</a:t>
            </a:r>
          </a:p>
        </p:txBody>
      </p:sp>
      <p:sp>
        <p:nvSpPr>
          <p:cNvPr id="3" name="Content Placeholder 2"/>
          <p:cNvSpPr>
            <a:spLocks noGrp="1"/>
          </p:cNvSpPr>
          <p:nvPr>
            <p:ph idx="1"/>
          </p:nvPr>
        </p:nvSpPr>
        <p:spPr/>
        <p:txBody>
          <a:bodyPr>
            <a:normAutofit lnSpcReduction="10000"/>
          </a:bodyPr>
          <a:lstStyle/>
          <a:p>
            <a:pPr>
              <a:lnSpc>
                <a:spcPct val="125000"/>
              </a:lnSpc>
              <a:defRPr sz="2000">
                <a:solidFill>
                  <a:srgbClr val="0A0A0A"/>
                </a:solidFill>
              </a:defRPr>
            </a:pPr>
            <a:r>
              <a:t>The Gym Management System is divided into key modules:</a:t>
            </a:r>
          </a:p>
          <a:p>
            <a:pPr>
              <a:lnSpc>
                <a:spcPct val="125000"/>
              </a:lnSpc>
              <a:defRPr sz="2000">
                <a:solidFill>
                  <a:srgbClr val="0A0A0A"/>
                </a:solidFill>
              </a:defRPr>
            </a:pPr>
            <a:endParaRPr/>
          </a:p>
          <a:p>
            <a:pPr>
              <a:lnSpc>
                <a:spcPct val="125000"/>
              </a:lnSpc>
              <a:defRPr sz="2000">
                <a:solidFill>
                  <a:srgbClr val="0A0A0A"/>
                </a:solidFill>
              </a:defRPr>
            </a:pPr>
            <a:r>
              <a:t>1. Member Management – Add, edit, and track member details.</a:t>
            </a:r>
          </a:p>
          <a:p>
            <a:pPr>
              <a:lnSpc>
                <a:spcPct val="125000"/>
              </a:lnSpc>
              <a:defRPr sz="2000">
                <a:solidFill>
                  <a:srgbClr val="0A0A0A"/>
                </a:solidFill>
              </a:defRPr>
            </a:pPr>
            <a:r>
              <a:t>2. Trainer Management – Maintain trainer profiles and schedules.</a:t>
            </a:r>
          </a:p>
          <a:p>
            <a:pPr>
              <a:lnSpc>
                <a:spcPct val="125000"/>
              </a:lnSpc>
              <a:defRPr sz="2000">
                <a:solidFill>
                  <a:srgbClr val="0A0A0A"/>
                </a:solidFill>
              </a:defRPr>
            </a:pPr>
            <a:r>
              <a:t>3. Attendance Module – Record daily attendance of members.</a:t>
            </a:r>
          </a:p>
          <a:p>
            <a:pPr>
              <a:lnSpc>
                <a:spcPct val="125000"/>
              </a:lnSpc>
              <a:defRPr sz="2000">
                <a:solidFill>
                  <a:srgbClr val="0A0A0A"/>
                </a:solidFill>
              </a:defRPr>
            </a:pPr>
            <a:r>
              <a:t>4. Payment Module – Manage membership fees, renewals, and due dates.</a:t>
            </a:r>
          </a:p>
          <a:p>
            <a:pPr>
              <a:lnSpc>
                <a:spcPct val="125000"/>
              </a:lnSpc>
              <a:defRPr sz="2000">
                <a:solidFill>
                  <a:srgbClr val="0A0A0A"/>
                </a:solidFill>
              </a:defRPr>
            </a:pPr>
            <a:r>
              <a:t>5. Dashboard – Display analytical data and reports.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3600" b="1">
                <a:solidFill>
                  <a:srgbClr val="003366"/>
                </a:solidFill>
              </a:defRPr>
            </a:pPr>
            <a:r>
              <a:t>Challenges and Solutions</a:t>
            </a:r>
          </a:p>
        </p:txBody>
      </p:sp>
      <p:sp>
        <p:nvSpPr>
          <p:cNvPr id="3" name="Content Placeholder 2"/>
          <p:cNvSpPr>
            <a:spLocks noGrp="1"/>
          </p:cNvSpPr>
          <p:nvPr>
            <p:ph idx="1"/>
          </p:nvPr>
        </p:nvSpPr>
        <p:spPr/>
        <p:txBody>
          <a:bodyPr>
            <a:normAutofit fontScale="92500" lnSpcReduction="20000"/>
          </a:bodyPr>
          <a:lstStyle/>
          <a:p>
            <a:pPr>
              <a:lnSpc>
                <a:spcPct val="125000"/>
              </a:lnSpc>
              <a:defRPr sz="2000">
                <a:solidFill>
                  <a:srgbClr val="0A0A0A"/>
                </a:solidFill>
              </a:defRPr>
            </a:pPr>
            <a:r>
              <a:t>During development, several issues were encountered:</a:t>
            </a:r>
          </a:p>
          <a:p>
            <a:pPr>
              <a:lnSpc>
                <a:spcPct val="125000"/>
              </a:lnSpc>
              <a:defRPr sz="2000">
                <a:solidFill>
                  <a:srgbClr val="0A0A0A"/>
                </a:solidFill>
              </a:defRPr>
            </a:pPr>
            <a:endParaRPr/>
          </a:p>
          <a:p>
            <a:pPr>
              <a:lnSpc>
                <a:spcPct val="125000"/>
              </a:lnSpc>
              <a:defRPr sz="2000">
                <a:solidFill>
                  <a:srgbClr val="0A0A0A"/>
                </a:solidFill>
              </a:defRPr>
            </a:pPr>
            <a:r>
              <a:t>• Challenge: Difficulty linking backend with database → Solution: Used MongoDB Atlas for stable connections.</a:t>
            </a:r>
          </a:p>
          <a:p>
            <a:pPr>
              <a:lnSpc>
                <a:spcPct val="125000"/>
              </a:lnSpc>
              <a:defRPr sz="2000">
                <a:solidFill>
                  <a:srgbClr val="0A0A0A"/>
                </a:solidFill>
              </a:defRPr>
            </a:pPr>
            <a:r>
              <a:t>• Challenge: Poor mobile responsiveness → Solution: Implemented CSS Flexbox and Grid layout.</a:t>
            </a:r>
          </a:p>
          <a:p>
            <a:pPr>
              <a:lnSpc>
                <a:spcPct val="125000"/>
              </a:lnSpc>
              <a:defRPr sz="2000">
                <a:solidFill>
                  <a:srgbClr val="0A0A0A"/>
                </a:solidFill>
              </a:defRPr>
            </a:pPr>
            <a:r>
              <a:t>• Challenge: Duplicate records → Solution: Used unique member IDs for validation.</a:t>
            </a:r>
          </a:p>
          <a:p>
            <a:pPr>
              <a:lnSpc>
                <a:spcPct val="125000"/>
              </a:lnSpc>
              <a:defRPr sz="2000">
                <a:solidFill>
                  <a:srgbClr val="0A0A0A"/>
                </a:solidFill>
              </a:defRPr>
            </a:pPr>
            <a:r>
              <a:t>• Challenge: Testing APIs → Solution: Used manual test scripts to verify each route.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3600" b="1">
                <a:solidFill>
                  <a:srgbClr val="003366"/>
                </a:solidFill>
              </a:defRPr>
            </a:pPr>
            <a:r>
              <a:t>Results and Discussion</a:t>
            </a:r>
          </a:p>
        </p:txBody>
      </p:sp>
      <p:sp>
        <p:nvSpPr>
          <p:cNvPr id="3" name="Content Placeholder 2"/>
          <p:cNvSpPr>
            <a:spLocks noGrp="1"/>
          </p:cNvSpPr>
          <p:nvPr>
            <p:ph idx="1"/>
          </p:nvPr>
        </p:nvSpPr>
        <p:spPr/>
        <p:txBody>
          <a:bodyPr>
            <a:normAutofit/>
          </a:bodyPr>
          <a:lstStyle/>
          <a:p>
            <a:pPr>
              <a:lnSpc>
                <a:spcPct val="125000"/>
              </a:lnSpc>
              <a:defRPr sz="2000">
                <a:solidFill>
                  <a:srgbClr val="0A0A0A"/>
                </a:solidFill>
              </a:defRPr>
            </a:pPr>
            <a:r>
              <a:t>The Gym Management System successfully integrates all major functionalities in one platform.</a:t>
            </a:r>
          </a:p>
          <a:p>
            <a:pPr>
              <a:lnSpc>
                <a:spcPct val="125000"/>
              </a:lnSpc>
              <a:defRPr sz="2000">
                <a:solidFill>
                  <a:srgbClr val="0A0A0A"/>
                </a:solidFill>
              </a:defRPr>
            </a:pPr>
            <a:endParaRPr/>
          </a:p>
          <a:p>
            <a:pPr>
              <a:lnSpc>
                <a:spcPct val="125000"/>
              </a:lnSpc>
              <a:defRPr sz="2000">
                <a:solidFill>
                  <a:srgbClr val="0A0A0A"/>
                </a:solidFill>
              </a:defRPr>
            </a:pPr>
            <a:r>
              <a:t>• Achieved end-to-end automation of gym processes.</a:t>
            </a:r>
          </a:p>
          <a:p>
            <a:pPr>
              <a:lnSpc>
                <a:spcPct val="125000"/>
              </a:lnSpc>
              <a:defRPr sz="2000">
                <a:solidFill>
                  <a:srgbClr val="0A0A0A"/>
                </a:solidFill>
              </a:defRPr>
            </a:pPr>
            <a:r>
              <a:t>• Ensured secure data handling through Node.js-MongoDB integration.</a:t>
            </a:r>
          </a:p>
          <a:p>
            <a:pPr>
              <a:lnSpc>
                <a:spcPct val="125000"/>
              </a:lnSpc>
              <a:defRPr sz="2000">
                <a:solidFill>
                  <a:srgbClr val="0A0A0A"/>
                </a:solidFill>
              </a:defRPr>
            </a:pPr>
            <a:r>
              <a:t>• Improved user experience with responsive and dynamic UI.</a:t>
            </a:r>
          </a:p>
          <a:p>
            <a:pPr>
              <a:lnSpc>
                <a:spcPct val="125000"/>
              </a:lnSpc>
              <a:defRPr sz="2000">
                <a:solidFill>
                  <a:srgbClr val="0A0A0A"/>
                </a:solidFill>
              </a:defRPr>
            </a:pPr>
            <a:r>
              <a:t>• Demonstrated scalability to handle multiple users and branches efficiently.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3600" b="1">
                <a:solidFill>
                  <a:srgbClr val="003366"/>
                </a:solidFill>
              </a:defRPr>
            </a:pPr>
            <a:r>
              <a:t>Future Enhancements</a:t>
            </a:r>
          </a:p>
        </p:txBody>
      </p:sp>
      <p:sp>
        <p:nvSpPr>
          <p:cNvPr id="3" name="Content Placeholder 2"/>
          <p:cNvSpPr>
            <a:spLocks noGrp="1"/>
          </p:cNvSpPr>
          <p:nvPr>
            <p:ph idx="1"/>
          </p:nvPr>
        </p:nvSpPr>
        <p:spPr/>
        <p:txBody>
          <a:bodyPr>
            <a:normAutofit lnSpcReduction="10000"/>
          </a:bodyPr>
          <a:lstStyle/>
          <a:p>
            <a:pPr>
              <a:lnSpc>
                <a:spcPct val="125000"/>
              </a:lnSpc>
              <a:defRPr sz="2000">
                <a:solidFill>
                  <a:srgbClr val="0A0A0A"/>
                </a:solidFill>
              </a:defRPr>
            </a:pPr>
            <a:r>
              <a:t>To enhance system performance and usability, future upgrades will include:</a:t>
            </a:r>
          </a:p>
          <a:p>
            <a:pPr>
              <a:lnSpc>
                <a:spcPct val="125000"/>
              </a:lnSpc>
              <a:defRPr sz="2000">
                <a:solidFill>
                  <a:srgbClr val="0A0A0A"/>
                </a:solidFill>
              </a:defRPr>
            </a:pPr>
            <a:endParaRPr/>
          </a:p>
          <a:p>
            <a:pPr>
              <a:lnSpc>
                <a:spcPct val="125000"/>
              </a:lnSpc>
              <a:defRPr sz="2000">
                <a:solidFill>
                  <a:srgbClr val="0A0A0A"/>
                </a:solidFill>
              </a:defRPr>
            </a:pPr>
            <a:r>
              <a:t>• QR or Biometric-based attendance tracking.</a:t>
            </a:r>
          </a:p>
          <a:p>
            <a:pPr>
              <a:lnSpc>
                <a:spcPct val="125000"/>
              </a:lnSpc>
              <a:defRPr sz="2000">
                <a:solidFill>
                  <a:srgbClr val="0A0A0A"/>
                </a:solidFill>
              </a:defRPr>
            </a:pPr>
            <a:r>
              <a:t>• Automated notifications for renewals and payments.</a:t>
            </a:r>
          </a:p>
          <a:p>
            <a:pPr>
              <a:lnSpc>
                <a:spcPct val="125000"/>
              </a:lnSpc>
              <a:defRPr sz="2000">
                <a:solidFill>
                  <a:srgbClr val="0A0A0A"/>
                </a:solidFill>
              </a:defRPr>
            </a:pPr>
            <a:r>
              <a:t>• Mobile app integration for Android/iOS users.</a:t>
            </a:r>
          </a:p>
          <a:p>
            <a:pPr>
              <a:lnSpc>
                <a:spcPct val="125000"/>
              </a:lnSpc>
              <a:defRPr sz="2000">
                <a:solidFill>
                  <a:srgbClr val="0A0A0A"/>
                </a:solidFill>
              </a:defRPr>
            </a:pPr>
            <a:r>
              <a:t>• AI-based fitness analytics and progress tracking.</a:t>
            </a:r>
          </a:p>
          <a:p>
            <a:pPr>
              <a:lnSpc>
                <a:spcPct val="125000"/>
              </a:lnSpc>
              <a:defRPr sz="2000">
                <a:solidFill>
                  <a:srgbClr val="0A0A0A"/>
                </a:solidFill>
              </a:defRPr>
            </a:pPr>
            <a:r>
              <a:t>• Cloud deployment using AWS or Render for global accessibility.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3600" b="1">
                <a:solidFill>
                  <a:srgbClr val="003366"/>
                </a:solidFill>
              </a:defRPr>
            </a:pPr>
            <a:r>
              <a:t>Conclusion</a:t>
            </a:r>
          </a:p>
        </p:txBody>
      </p:sp>
      <p:sp>
        <p:nvSpPr>
          <p:cNvPr id="3" name="Content Placeholder 2"/>
          <p:cNvSpPr>
            <a:spLocks noGrp="1"/>
          </p:cNvSpPr>
          <p:nvPr>
            <p:ph idx="1"/>
          </p:nvPr>
        </p:nvSpPr>
        <p:spPr/>
        <p:txBody>
          <a:bodyPr/>
          <a:lstStyle/>
          <a:p>
            <a:pPr>
              <a:lnSpc>
                <a:spcPct val="125000"/>
              </a:lnSpc>
              <a:defRPr sz="2000">
                <a:solidFill>
                  <a:srgbClr val="0A0A0A"/>
                </a:solidFill>
              </a:defRPr>
            </a:pPr>
            <a:r>
              <a:t>The Gym Management System demonstrates how full-stack web technologies can be effectively applied to solve real-world management challenges. It improves operational efficiency, data accuracy, and user accessibility. With further enhancements like biometrics and analytics, it can evolve into a complete smart gym solution.</a:t>
            </a:r>
          </a:p>
        </p:txBody>
      </p:sp>
    </p:spTree>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docProps/app.xml><?xml version="1.0" encoding="utf-8"?>
<Properties xmlns="http://schemas.openxmlformats.org/officeDocument/2006/extended-properties" xmlns:vt="http://schemas.openxmlformats.org/officeDocument/2006/docPropsVTypes">
  <Template>Retrospect</Template>
  <TotalTime>2</TotalTime>
  <Words>1039</Words>
  <Application>Microsoft Office PowerPoint</Application>
  <PresentationFormat>On-screen Show (4:3)</PresentationFormat>
  <Paragraphs>86</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Calibri</vt:lpstr>
      <vt:lpstr>Calibri Light</vt:lpstr>
      <vt:lpstr>Retrospect</vt:lpstr>
      <vt:lpstr>GYM MANAGEMENT SYSTEM</vt:lpstr>
      <vt:lpstr>Introduction</vt:lpstr>
      <vt:lpstr>Motivation and Need</vt:lpstr>
      <vt:lpstr>Problem Statement and Objectives</vt:lpstr>
      <vt:lpstr>Scope of the Project</vt:lpstr>
      <vt:lpstr>Literature Review</vt:lpstr>
      <vt:lpstr>System Architecture (Insert Diagram Here)</vt:lpstr>
      <vt:lpstr>Technologies Used</vt:lpstr>
      <vt:lpstr>Development Methodology</vt:lpstr>
      <vt:lpstr>Data Flow Diagram (Insert Diagram Here)</vt:lpstr>
      <vt:lpstr>System Modules</vt:lpstr>
      <vt:lpstr>Challenges and Solutions</vt:lpstr>
      <vt:lpstr>Results and Discussion</vt:lpstr>
      <vt:lpstr>Future Enhancements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SAHIL</dc:creator>
  <cp:keywords/>
  <dc:description>generated using python-pptx</dc:description>
  <cp:lastModifiedBy>SAHIL RALE</cp:lastModifiedBy>
  <cp:revision>2</cp:revision>
  <dcterms:created xsi:type="dcterms:W3CDTF">2013-01-27T09:14:16Z</dcterms:created>
  <dcterms:modified xsi:type="dcterms:W3CDTF">2025-11-09T20:11:20Z</dcterms:modified>
  <cp:category/>
</cp:coreProperties>
</file>